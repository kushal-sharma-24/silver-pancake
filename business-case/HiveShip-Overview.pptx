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BB6A"/>
    <a:srgbClr val="1A233B"/>
    <a:srgbClr val="0F172A"/>
    <a:srgbClr val="37474F"/>
    <a:srgbClr val="5598D1"/>
    <a:srgbClr val="EF53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974" autoAdjust="0"/>
  </p:normalViewPr>
  <p:slideViewPr>
    <p:cSldViewPr snapToGrid="0" snapToObjects="1">
      <p:cViewPr varScale="1">
        <p:scale>
          <a:sx n="113" d="100"/>
          <a:sy n="113" d="100"/>
        </p:scale>
        <p:origin x="39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BF220-F06D-4179-A6A0-648CFABFF9B0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2F84B-EE21-4767-8C39-B47A9753E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4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2F84B-EE21-4767-8C39-B47A9753E4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92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71B73-5EA1-DF7D-CD44-5E2C28249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ACE9A-E17F-E15F-25C2-9655C87A0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2E1F1-5E3F-F175-BC8F-FE3AE04C6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41A3A-4422-CACC-FA73-5203450EE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2F84B-EE21-4767-8C39-B47A9753E4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38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CD01-929A-FB7B-49C6-94DC5DEA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26C39-870A-4A0E-F8AE-91A3E38AF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F8C0C-DE74-C96A-3440-F182C521B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9AC1B-BCBF-C32F-93A6-CCCA66B06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2F84B-EE21-4767-8C39-B47A9753E4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86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HiveShip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6147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B5F6"/>
                </a:solidFill>
                <a:latin typeface="Segoe UI"/>
              </a:defRPr>
            </a:pPr>
            <a:r>
              <a:rPr dirty="0"/>
              <a:t>Autono</a:t>
            </a:r>
            <a:r>
              <a:rPr dirty="0">
                <a:solidFill>
                  <a:srgbClr val="5598D1"/>
                </a:solidFill>
              </a:rPr>
              <a:t>mous </a:t>
            </a:r>
            <a:r>
              <a:rPr dirty="0"/>
              <a:t>Multi-Agent Software Delivery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" y="1554480"/>
            <a:ext cx="111159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You describe the goal.  A hive of AI agents plan</a:t>
            </a:r>
            <a:r>
              <a:rPr lang="en-US" dirty="0"/>
              <a:t>s</a:t>
            </a:r>
            <a:r>
              <a:rPr dirty="0"/>
              <a:t>, code</a:t>
            </a:r>
            <a:r>
              <a:rPr lang="en-US" dirty="0"/>
              <a:t>s</a:t>
            </a:r>
            <a:r>
              <a:rPr dirty="0"/>
              <a:t>, review</a:t>
            </a:r>
            <a:r>
              <a:rPr lang="en-US" dirty="0"/>
              <a:t>s</a:t>
            </a:r>
            <a:r>
              <a:rPr dirty="0"/>
              <a:t>, and fix</a:t>
            </a:r>
            <a:r>
              <a:rPr lang="en-US" dirty="0"/>
              <a:t>es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then opens a Pull Request on your repo.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42876"/>
            <a:ext cx="1554480" cy="141732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21885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291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2956"/>
            <a:ext cx="1463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Plain-English</a:t>
            </a:r>
            <a:br/>
            <a:r>
              <a:t>feature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5543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2142876"/>
            <a:ext cx="1554480" cy="141732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79" y="21885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79" y="246291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782956"/>
            <a:ext cx="1463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LLM decomposes goal</a:t>
            </a:r>
            <a:br/>
            <a:r>
              <a:t>into agent DAG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5543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2142876"/>
            <a:ext cx="1554480" cy="141732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399" y="21885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46291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2782956"/>
            <a:ext cx="1463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Parallel agents write</a:t>
            </a:r>
            <a:br/>
            <a:r>
              <a:t>code artifacts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5543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199" y="2142876"/>
            <a:ext cx="1554480" cy="141732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19" y="21885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19" y="246291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19" y="2782956"/>
            <a:ext cx="1463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AI reviewer flags</a:t>
            </a:r>
            <a:br/>
            <a:r>
              <a:t>concrete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25543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2142876"/>
            <a:ext cx="1554480" cy="141732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21885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46291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782956"/>
            <a:ext cx="1463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Agents auto-fix</a:t>
            </a:r>
            <a:br/>
            <a:r>
              <a:t>review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199" y="25543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107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2142876"/>
            <a:ext cx="1554480" cy="141732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66960" y="21885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2462916"/>
            <a:ext cx="1463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782956"/>
            <a:ext cx="1463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Branch + PR opened</a:t>
            </a:r>
            <a:br/>
            <a:r>
              <a:t>on GitHub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16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Why HiveShip?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4288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rPr dirty="0"/>
              <a:t>●  Multi-Agent DAG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428876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Parallel execution </a:t>
            </a:r>
            <a:r>
              <a:rPr lang="en-IN" dirty="0"/>
              <a:t>-</a:t>
            </a:r>
            <a:r>
              <a:rPr dirty="0"/>
              <a:t> up to 4 agents building concurrently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946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Self-Healing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7946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Blocked agents spawn helpers, failed agents are pruned automatically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1603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BYO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1603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Use Gemini, GPT, Claude, Qwen, Ollama — no vendor lock-in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5261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Self-Hosted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526156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Runs on your infra </a:t>
            </a:r>
            <a:r>
              <a:rPr lang="en-IN" dirty="0"/>
              <a:t>-</a:t>
            </a:r>
            <a:r>
              <a:rPr dirty="0"/>
              <a:t> code never leaves your 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919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Goal → PR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89191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Segoe UI"/>
              </a:defRPr>
            </a:pPr>
            <a:r>
              <a:t>Output is a reviewed GitHub PR, not files in an editor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151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HiveShip  —  Autonomous  ·  Open  ·  Self-Hosted  ·  LLM-Agnostic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8FD6C-FA38-FA21-0160-DB08599F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7E5268-0E34-9EA5-26A6-F135736F1320}"/>
              </a:ext>
            </a:extLst>
          </p:cNvPr>
          <p:cNvSpPr txBox="1"/>
          <p:nvPr/>
        </p:nvSpPr>
        <p:spPr>
          <a:xfrm>
            <a:off x="548640" y="274320"/>
            <a:ext cx="88259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C107"/>
                </a:solidFill>
                <a:latin typeface="Segoe UI"/>
              </a:defRPr>
            </a:pPr>
            <a:r>
              <a:rPr lang="en-IN" dirty="0"/>
              <a:t>The Gaps in Existing Solutions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EF75FE-46AE-23E8-C522-E34E930B6616}"/>
              </a:ext>
            </a:extLst>
          </p:cNvPr>
          <p:cNvSpPr txBox="1"/>
          <p:nvPr/>
        </p:nvSpPr>
        <p:spPr>
          <a:xfrm>
            <a:off x="548640" y="91440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B5F6"/>
                </a:solidFill>
                <a:latin typeface="Segoe UI"/>
              </a:defRPr>
            </a:pPr>
            <a:r>
              <a:rPr lang="en-IN" b="1" dirty="0">
                <a:solidFill>
                  <a:srgbClr val="EF5350"/>
                </a:solidFill>
              </a:rPr>
              <a:t>Problem Statement</a:t>
            </a:r>
            <a:endParaRPr b="1" dirty="0">
              <a:solidFill>
                <a:srgbClr val="EF53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A2774-A6D7-67B2-3189-56AFC7C3DB78}"/>
              </a:ext>
            </a:extLst>
          </p:cNvPr>
          <p:cNvSpPr txBox="1"/>
          <p:nvPr/>
        </p:nvSpPr>
        <p:spPr>
          <a:xfrm>
            <a:off x="548640" y="1357154"/>
            <a:ext cx="111159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lang="en-US" sz="1600" dirty="0"/>
              <a:t>Every AI coding tool today requires a human in the loop, locks you to one LLM vendor, and runs on someone else's infrastructure.</a:t>
            </a:r>
            <a:endParaRPr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D02F79-0324-5F3B-6419-62BB2DD04B03}"/>
              </a:ext>
            </a:extLst>
          </p:cNvPr>
          <p:cNvSpPr txBox="1"/>
          <p:nvPr/>
        </p:nvSpPr>
        <p:spPr>
          <a:xfrm>
            <a:off x="609600" y="65151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HiveShip  —  Autonomous  ·  Open  ·  Self-Hosted  ·  LLM-Agnostic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6D3672-FCFF-4A3F-3C80-6AA42B88B083}"/>
              </a:ext>
            </a:extLst>
          </p:cNvPr>
          <p:cNvSpPr txBox="1"/>
          <p:nvPr/>
        </p:nvSpPr>
        <p:spPr>
          <a:xfrm>
            <a:off x="548640" y="2236379"/>
            <a:ext cx="5179100" cy="2931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5598D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Five </a:t>
            </a:r>
            <a:r>
              <a:rPr lang="en-US" sz="2000" b="1" dirty="0">
                <a:solidFill>
                  <a:srgbClr val="5598D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</a:t>
            </a:r>
            <a:r>
              <a:rPr lang="en-US" sz="2000" b="1" i="0" dirty="0">
                <a:solidFill>
                  <a:srgbClr val="5598D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aps</a:t>
            </a:r>
            <a:r>
              <a:rPr lang="en-US" sz="2000" dirty="0">
                <a:solidFill>
                  <a:srgbClr val="5598D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endParaRPr lang="en-US" sz="2000" b="0" i="0" dirty="0">
              <a:solidFill>
                <a:srgbClr val="5598D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SzPct val="170000"/>
              <a:buFont typeface="Arial" panose="020B0604020202020204" pitchFamily="34" charset="0"/>
              <a:buChar char="•"/>
            </a:pPr>
            <a:r>
              <a:rPr lang="en-US" sz="1300" b="1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Vendor lock-in</a:t>
            </a:r>
            <a:r>
              <a:rPr lang="en-US" sz="1300" b="0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 - Every tool locks you to one LLM (Anthropic / OpenAI / Google / proprietary)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SzPct val="170000"/>
              <a:buFont typeface="Arial" panose="020B0604020202020204" pitchFamily="34" charset="0"/>
              <a:buChar char="•"/>
            </a:pPr>
            <a:r>
              <a:rPr lang="en-US" sz="1300" b="1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Multi-agent is fragile</a:t>
            </a:r>
            <a:r>
              <a:rPr lang="en-US" sz="1300" b="0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 - Claude Code's agent teams are experimental; everyone else is single-agent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SzPct val="170000"/>
              <a:buFont typeface="Arial" panose="020B0604020202020204" pitchFamily="34" charset="0"/>
              <a:buChar char="•"/>
            </a:pPr>
            <a:r>
              <a:rPr lang="en-US" sz="1300" b="1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"Autonomous" still needs babysitting</a:t>
            </a:r>
            <a:r>
              <a:rPr lang="en-US" sz="1300" b="0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 - Human must monitor, approve, redirect in real-time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SzPct val="170000"/>
              <a:buFont typeface="Arial" panose="020B0604020202020204" pitchFamily="34" charset="0"/>
              <a:buChar char="•"/>
            </a:pPr>
            <a:r>
              <a:rPr lang="en-US" sz="1300" b="1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Can't self-host the orchestration</a:t>
            </a:r>
            <a:r>
              <a:rPr lang="en-US" sz="1300" b="0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 - You can run a local LLM, but not the pipeline that plans, builds, and reviews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SzPct val="170000"/>
              <a:buFont typeface="Arial" panose="020B0604020202020204" pitchFamily="34" charset="0"/>
              <a:buChar char="•"/>
            </a:pPr>
            <a:r>
              <a:rPr lang="en-US" sz="1300" b="1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Cost is opaque</a:t>
            </a:r>
            <a:r>
              <a:rPr lang="en-US" sz="1300" b="0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 - Per-token, per-seat, or $500/</a:t>
            </a:r>
            <a:r>
              <a:rPr lang="en-US" sz="1300" b="0" i="0" dirty="0" err="1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mo</a:t>
            </a:r>
            <a:r>
              <a:rPr lang="en-US" sz="1300" b="0" i="0" dirty="0">
                <a:solidFill>
                  <a:schemeClr val="bg1">
                    <a:lumMod val="75000"/>
                  </a:schemeClr>
                </a:solidFill>
                <a:effectLst/>
                <a:latin typeface="Segoe WPC"/>
              </a:rPr>
              <a:t> flat; no path to $0 with your own GPUs</a:t>
            </a: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9BC928E-225B-785B-A906-73AE5B094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423264"/>
              </p:ext>
            </p:extLst>
          </p:nvPr>
        </p:nvGraphicFramePr>
        <p:xfrm>
          <a:off x="5876674" y="2379394"/>
          <a:ext cx="5644764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261">
                  <a:extLst>
                    <a:ext uri="{9D8B030D-6E8A-4147-A177-3AD203B41FA5}">
                      <a16:colId xmlns:a16="http://schemas.microsoft.com/office/drawing/2014/main" val="1749431465"/>
                    </a:ext>
                  </a:extLst>
                </a:gridCol>
                <a:gridCol w="1038198">
                  <a:extLst>
                    <a:ext uri="{9D8B030D-6E8A-4147-A177-3AD203B41FA5}">
                      <a16:colId xmlns:a16="http://schemas.microsoft.com/office/drawing/2014/main" val="2198693066"/>
                    </a:ext>
                  </a:extLst>
                </a:gridCol>
                <a:gridCol w="1083734">
                  <a:extLst>
                    <a:ext uri="{9D8B030D-6E8A-4147-A177-3AD203B41FA5}">
                      <a16:colId xmlns:a16="http://schemas.microsoft.com/office/drawing/2014/main" val="139081312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9053818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5665440"/>
                    </a:ext>
                  </a:extLst>
                </a:gridCol>
                <a:gridCol w="1124371">
                  <a:extLst>
                    <a:ext uri="{9D8B030D-6E8A-4147-A177-3AD203B41FA5}">
                      <a16:colId xmlns:a16="http://schemas.microsoft.com/office/drawing/2014/main" val="2002146325"/>
                    </a:ext>
                  </a:extLst>
                </a:gridCol>
              </a:tblGrid>
              <a:tr h="3395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FFC000"/>
                          </a:solidFill>
                          <a:effectLst/>
                        </a:rPr>
                        <a:t>Claude Code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FFC000"/>
                          </a:solidFill>
                          <a:effectLst/>
                        </a:rPr>
                        <a:t>Copilot Agent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FFC000"/>
                          </a:solidFill>
                          <a:effectLst/>
                        </a:rPr>
                        <a:t>Jules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FFC000"/>
                          </a:solidFill>
                          <a:effectLst/>
                        </a:rPr>
                        <a:t>Devin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 err="1">
                          <a:solidFill>
                            <a:srgbClr val="FFC000"/>
                          </a:solidFill>
                          <a:effectLst/>
                        </a:rPr>
                        <a:t>HiveShip</a:t>
                      </a:r>
                      <a:endParaRPr lang="en-US" sz="1300" dirty="0">
                        <a:solidFill>
                          <a:srgbClr val="FFC000"/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94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</a:rPr>
                        <a:t>Multi-agent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Experimental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66BB6A"/>
                          </a:solidFill>
                          <a:effectLst/>
                        </a:rPr>
                        <a:t>Yes</a:t>
                      </a:r>
                      <a:endParaRPr lang="en-US" sz="1300" b="1" dirty="0">
                        <a:solidFill>
                          <a:srgbClr val="66BB6A"/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218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</a:rPr>
                        <a:t>Fire-and-forget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Partial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66BB6A"/>
                          </a:solidFill>
                          <a:effectLst/>
                        </a:rPr>
                        <a:t>Yes</a:t>
                      </a:r>
                      <a:endParaRPr lang="en-US" sz="1300" b="1" dirty="0">
                        <a:solidFill>
                          <a:srgbClr val="66BB6A"/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506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>
                          <a:solidFill>
                            <a:schemeClr val="bg1"/>
                          </a:solidFill>
                          <a:effectLst/>
                        </a:rPr>
                        <a:t>Self-hosted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66BB6A"/>
                          </a:solidFill>
                          <a:effectLst/>
                        </a:rPr>
                        <a:t>Yes</a:t>
                      </a:r>
                      <a:endParaRPr lang="en-US" sz="1300" b="1" dirty="0">
                        <a:solidFill>
                          <a:srgbClr val="66BB6A"/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12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</a:rPr>
                        <a:t>BYO LLM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Partial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solidFill>
                            <a:srgbClr val="66BB6A"/>
                          </a:solidFill>
                          <a:effectLst/>
                        </a:rPr>
                        <a:t>Yes</a:t>
                      </a:r>
                      <a:endParaRPr lang="en-US" sz="1300" b="1" dirty="0">
                        <a:solidFill>
                          <a:srgbClr val="66BB6A"/>
                        </a:solidFill>
                        <a:effectLst/>
                      </a:endParaRP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955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effectLst/>
                        </a:rPr>
                        <a:t>Predictable / $0 cost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 (per-seat + compute)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 (per-seat + compute)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TBD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No ($500/</a:t>
                      </a:r>
                      <a:r>
                        <a:rPr lang="en-US" sz="13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mo</a:t>
                      </a: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</a:rPr>
                        <a:t>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66BB6A"/>
                          </a:solidFill>
                          <a:effectLst/>
                        </a:rPr>
                        <a:t>Yes (self-host = free)</a:t>
                      </a:r>
                    </a:p>
                  </a:txBody>
                  <a:tcPr marL="57150" marR="57150" marT="38100" marB="38100" anchor="ctr">
                    <a:lnL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540492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A51ED2E8-EE92-9508-4961-7DED94492D74}"/>
              </a:ext>
            </a:extLst>
          </p:cNvPr>
          <p:cNvSpPr txBox="1"/>
          <p:nvPr/>
        </p:nvSpPr>
        <p:spPr>
          <a:xfrm>
            <a:off x="548639" y="5440732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bg1"/>
                </a:solidFill>
                <a:effectLst/>
                <a:latin typeface="Segoe WPC"/>
              </a:rPr>
              <a:t>HiveShip closes all five gaps: autonomous, multi-agent, self-hosted, LLM-agnostic, open pipeline.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13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Segoe UI"/>
              </a:defRPr>
            </a:pPr>
            <a:r>
              <a:t>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A headless, autonomous engine that turns a plain-English goal into a reviewed GitHub Pull Request </a:t>
            </a:r>
            <a:r>
              <a:rPr lang="en-IN" dirty="0"/>
              <a:t>-</a:t>
            </a:r>
            <a:r>
              <a:rPr dirty="0"/>
              <a:t> zero human intervention in between.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B5F6"/>
                </a:solidFill>
                <a:latin typeface="Segoe UI"/>
              </a:defRPr>
            </a:pPr>
            <a:r>
              <a:t>5-Phase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303520" cy="68580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1488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Segoe UI"/>
              </a:defRPr>
            </a:pPr>
            <a:r>
              <a:t>1 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5059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LLM decomposes the goal into a DAG of 1–8 specialist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80360"/>
            <a:ext cx="5303520" cy="68580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926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2  DAG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799" y="3227832"/>
            <a:ext cx="52220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Agents run in parallel (up to 4 threads); blocked agents auto-spawn helpers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5303520" cy="68580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Segoe UI"/>
              </a:defRPr>
            </a:pPr>
            <a:r>
              <a:t>3  DELIVERY SYNTHESIS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Agent artifacts are merged into self-contained, runnable source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5303520" cy="68580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480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Segoe UI"/>
              </a:defRPr>
            </a:pPr>
            <a:r>
              <a:t>4  SELF-REVIEW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782312"/>
            <a:ext cx="5166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Reviewer agent checks code; rejected → fixer agent patches &amp; re-submits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12079"/>
            <a:ext cx="5303520" cy="68580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2577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107"/>
                </a:solidFill>
                <a:latin typeface="Segoe UI"/>
              </a:defRPr>
            </a:pPr>
            <a:r>
              <a:t>5  PR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5955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Branch created, files pushed, Pull Request opened on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5966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B5F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76916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Multi-Agent DAG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04348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Work decomposed into parallel specialist roles, not one monolithic prompt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2753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Self-Healing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0185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Blocked agents trigger helper spawning; failed agents pruned gracefully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858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Self-Reviewing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602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Separate reviewer agent evaluates output before 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44267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rPr dirty="0"/>
              <a:t>●  </a:t>
            </a:r>
            <a:r>
              <a:rPr dirty="0">
                <a:solidFill>
                  <a:srgbClr val="66BB6A"/>
                </a:solidFill>
              </a:rPr>
              <a:t>BYO 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01858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Gemini, vLLM, Ollama, LM Studio — any OpenAI-compatible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402635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Headless / API-First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676955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FastAPI server with REST + SSE; no IDE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06100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Git-Native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3532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Real PR on a real repo — not clipboard text or chat 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71937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BB6A"/>
                </a:solidFill>
                <a:latin typeface="Segoe UI"/>
              </a:defRPr>
            </a:pPr>
            <a:r>
              <a:t>●  Container-Ready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99369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Single Docker image → Azure Container Apps, AWS ECS, any host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" y="5995169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C6DA"/>
                </a:solidFill>
                <a:latin typeface="Segoe UI"/>
              </a:defRPr>
            </a:pPr>
            <a:r>
              <a:rPr dirty="0"/>
              <a:t>Client (PS/</a:t>
            </a:r>
            <a:r>
              <a:rPr lang="en-IN" dirty="0"/>
              <a:t>Teams</a:t>
            </a:r>
            <a:r>
              <a:rPr dirty="0"/>
              <a:t>)  →  HiveShip API (FastAPI)  →  GitHub PR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51820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↓  LLM calls: Gemini / vLLM / Ollama / any OpenAI-compat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57DB45-76D5-F579-8DBD-D5EC2A6D93BD}"/>
              </a:ext>
            </a:extLst>
          </p:cNvPr>
          <p:cNvSpPr txBox="1"/>
          <p:nvPr/>
        </p:nvSpPr>
        <p:spPr>
          <a:xfrm>
            <a:off x="609600" y="65151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HiveShip  —  Autonomous  ·  Open  ·  Self-Hosted  ·  LLM-Agnostic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Segoe UI"/>
              </a:defRPr>
            </a:pPr>
            <a:r>
              <a:t>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  <a:latin typeface="Segoe UI"/>
              </a:defRPr>
            </a:pPr>
            <a:r>
              <a:rPr dirty="0"/>
              <a:t>The P</a:t>
            </a:r>
            <a:r>
              <a:rPr dirty="0">
                <a:solidFill>
                  <a:srgbClr val="EF5350"/>
                </a:solidFill>
              </a:rPr>
              <a:t>roble</a:t>
            </a:r>
            <a:r>
              <a:rPr dirty="0"/>
              <a:t>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AI autocomplete speeds up typing (~30-55%).  But the full spec-to-PR lifecycle — planning, coding, testing, reviewing, committing — still takes hours and requires a developer's constant presence.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BB6A"/>
                </a:solidFill>
                <a:latin typeface="Segoe UI"/>
              </a:defRPr>
            </a:pPr>
            <a:r>
              <a:t>Quantified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6321287" cy="36576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2739" y="2514600"/>
            <a:ext cx="17174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Segoe UI"/>
              </a:defRPr>
            </a:pPr>
            <a:r>
              <a:t>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6613" y="2514600"/>
            <a:ext cx="14709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Without HiveShip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1454" y="2514600"/>
            <a:ext cx="147099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With HiveShip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6539" y="2514600"/>
            <a:ext cx="1677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Improvement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6321287" cy="32004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739" y="2907792"/>
            <a:ext cx="17174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Time: spec →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6613" y="2907792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4–16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1454" y="2907792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5–15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6539" y="2907792"/>
            <a:ext cx="16777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BB6A"/>
                </a:solidFill>
                <a:latin typeface="Segoe UI"/>
              </a:defRPr>
            </a:pPr>
            <a:r>
              <a:t>16–64x faster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227832"/>
            <a:ext cx="6321287" cy="32004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2739" y="3255264"/>
            <a:ext cx="17174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Human effort /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6613" y="3255264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4–16 hours 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1454" y="3255264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~15 min review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6539" y="3255264"/>
            <a:ext cx="16777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BB6A"/>
                </a:solidFill>
                <a:latin typeface="Segoe UI"/>
              </a:defRPr>
            </a:pPr>
            <a:r>
              <a:t>90%+ reduction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575304"/>
            <a:ext cx="6321287" cy="32004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2739" y="3602736"/>
            <a:ext cx="17174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Parallel throughput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6613" y="3602736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Limited by team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1454" y="3602736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Limited by API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6539" y="3602736"/>
            <a:ext cx="16777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BB6A"/>
                </a:solidFill>
                <a:latin typeface="Segoe UI"/>
              </a:defRPr>
            </a:pPr>
            <a:r>
              <a:t>Unbounded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22776"/>
            <a:ext cx="6321287" cy="32004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2739" y="3950208"/>
            <a:ext cx="17174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Cost per simple feature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86613" y="3950208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$200–800 (dev rate)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1454" y="3950208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$0.01–0.50 (LLM)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6539" y="3950208"/>
            <a:ext cx="16777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BB6A"/>
                </a:solidFill>
                <a:latin typeface="Segoe UI"/>
              </a:defRPr>
            </a:pPr>
            <a:r>
              <a:t>400–80,000x cheaper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70248"/>
            <a:ext cx="6321287" cy="32004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2739" y="4297680"/>
            <a:ext cx="17174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Off-hours productivity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86613" y="4297680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1454" y="4297680"/>
            <a:ext cx="14709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Segoe UI"/>
              </a:defRPr>
            </a:pPr>
            <a:r>
              <a:t>24/7 (container)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6539" y="4297680"/>
            <a:ext cx="16777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BB6A"/>
                </a:solidFill>
                <a:latin typeface="Segoe UI"/>
              </a:defRPr>
            </a:pPr>
            <a:r>
              <a:t>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6765" y="2011680"/>
            <a:ext cx="32528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4B5F6"/>
                </a:solidFill>
                <a:latin typeface="Segoe UI"/>
              </a:defRPr>
            </a:pPr>
            <a:r>
              <a:t>Who Is This For?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9645" y="2468880"/>
            <a:ext cx="15613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Segoe UI"/>
              </a:defRPr>
            </a:pPr>
            <a:r>
              <a:rPr dirty="0"/>
              <a:t>●  Solo Developer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9645" y="2743200"/>
            <a:ext cx="35780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10 ideas, bandwidth for 1 — fire off goals in parallel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69645" y="3063240"/>
            <a:ext cx="15613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Segoe UI"/>
              </a:defRPr>
            </a:pPr>
            <a:r>
              <a:rPr dirty="0"/>
              <a:t>●  Tech Lead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9645" y="3337560"/>
            <a:ext cx="35780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Spec in 10 min → reviewable PR, skip the 3-day 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9645" y="3657600"/>
            <a:ext cx="15613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Segoe UI"/>
              </a:defRPr>
            </a:pPr>
            <a:r>
              <a:t>●  Platform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9645" y="3931920"/>
            <a:ext cx="35780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Batch-generate 20 internal tools without 20 headcount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9645" y="4251960"/>
            <a:ext cx="299763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Segoe UI"/>
              </a:defRPr>
            </a:pPr>
            <a:r>
              <a:rPr dirty="0"/>
              <a:t>●  Startup CTO</a:t>
            </a:r>
            <a:r>
              <a:rPr lang="en-IN" dirty="0"/>
              <a:t>/Product Managers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7569645" y="4526280"/>
            <a:ext cx="35780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Delegate well-defined features, focus on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9645" y="4846320"/>
            <a:ext cx="213095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726"/>
                </a:solidFill>
                <a:latin typeface="Segoe UI"/>
              </a:defRPr>
            </a:pPr>
            <a:r>
              <a:t>●  Enterprise Innovation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9645" y="5120640"/>
            <a:ext cx="35780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C5"/>
                </a:solidFill>
                <a:latin typeface="Segoe UI"/>
              </a:defRPr>
            </a:pPr>
            <a:r>
              <a:t>Goal → working prototype as a PR, not a slide deck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794634"/>
            <a:ext cx="550808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107"/>
                </a:solidFill>
                <a:latin typeface="Segoe UI"/>
              </a:defRPr>
            </a:pPr>
            <a:r>
              <a:t>Why Now?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206114"/>
            <a:ext cx="50490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●  LLM quality crossed the coding threshold (Gemini 2.5, Qwen2.5-14B)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480433"/>
            <a:ext cx="50490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●  Structured output is production-ready (API-level JSON schemas)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754753"/>
            <a:ext cx="50490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●  Self-hosted LLMs are practical (vLLM + AWQ on consumer GPUs)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029074"/>
            <a:ext cx="50490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●  Container infra is commodity (ACA, Fargate, Cloud Run)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923A8F-EAFB-BE9C-9BD0-F83448C64E98}"/>
              </a:ext>
            </a:extLst>
          </p:cNvPr>
          <p:cNvSpPr txBox="1"/>
          <p:nvPr/>
        </p:nvSpPr>
        <p:spPr>
          <a:xfrm>
            <a:off x="609600" y="65151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HiveShip  —  Autonomous  ·  Open  ·  Self-Hosted  ·  LLM-Agnostic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Segoe UI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t>PASSIVE  ◄───────────────────────────────────────────────────────────────────────────►  AUTONOMOUS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Autocomplete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Copilot</a:t>
            </a:r>
            <a:br/>
            <a:r>
              <a:t>TabNine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Copilot Chat</a:t>
            </a:r>
            <a:br/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Agentic 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Cursor</a:t>
            </a:r>
            <a:br/>
            <a:r>
              <a:t>Windsurf</a:t>
            </a:r>
            <a:br/>
            <a:r>
              <a:t>Antigravity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Headless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Claude Code</a:t>
            </a:r>
            <a:br/>
            <a:r>
              <a:t>Jules</a:t>
            </a:r>
            <a:br/>
            <a:r>
              <a:t>Devin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Goal →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C107"/>
                </a:solidFill>
                <a:latin typeface="Segoe UI"/>
              </a:defRPr>
            </a:pPr>
            <a:r>
              <a:rPr dirty="0"/>
              <a:t>HiveShip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2651760" cy="292608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603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vs. GitHub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235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5350"/>
                </a:solidFill>
                <a:latin typeface="Segoe UI"/>
              </a:defRPr>
            </a:pPr>
            <a:r>
              <a:rPr dirty="0"/>
              <a:t>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BB6A"/>
                </a:solidFill>
                <a:latin typeface="Segoe UI"/>
              </a:defRPr>
            </a:pPr>
            <a:r>
              <a:rPr dirty="0"/>
              <a:t>HiveShip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154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55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Typing accelerator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55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Task executor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85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Human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Continuous accept/reject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Review PR at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153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Single 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Multi-file 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457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OpenAI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468880"/>
            <a:ext cx="2651760" cy="292608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25603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vs. Claude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2875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5350"/>
                </a:solidFill>
                <a:latin typeface="Segoe UI"/>
              </a:defRPr>
            </a:pPr>
            <a:r>
              <a:t>Them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BB6A"/>
                </a:solidFill>
                <a:latin typeface="Segoe UI"/>
              </a:defRPr>
            </a:pPr>
            <a:r>
              <a:rPr dirty="0"/>
              <a:t>HiveShip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3154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355848"/>
            <a:ext cx="118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Interactive pair-pro</a:t>
            </a:r>
            <a:r>
              <a:rPr lang="en-IN" dirty="0" err="1"/>
              <a:t>grammer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4572000" y="3355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Fire-and-forget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685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Agents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Single, sequential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Multi-agent DAG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215384"/>
            <a:ext cx="914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Parallelism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Up to 4 concurrent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47457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Per-token (Anthropic)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BYO LLM / free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468880"/>
            <a:ext cx="2651760" cy="292608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6480" y="25603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vs. Google (Jules)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57515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5350"/>
                </a:solidFill>
                <a:latin typeface="Segoe UI"/>
              </a:defRPr>
            </a:pPr>
            <a:r>
              <a:t>Them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BB6A"/>
                </a:solidFill>
                <a:latin typeface="Segoe UI"/>
              </a:defRPr>
            </a:pPr>
            <a:r>
              <a:rPr dirty="0"/>
              <a:t>HiveShip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154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Deploy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3355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Google Cloud only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3355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Any container host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685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Gemini only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664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Any OpenAI-compat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42153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Lock-in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2648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Full GCP lock-in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0" y="47457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Source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Closed-source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0664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Open-source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9680" y="2468880"/>
            <a:ext cx="2651760" cy="2926080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61120" y="2560320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107"/>
                </a:solidFill>
                <a:latin typeface="Segoe UI"/>
              </a:defRPr>
            </a:pPr>
            <a:r>
              <a:t>vs. Devin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92155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5350"/>
                </a:solidFill>
                <a:latin typeface="Segoe UI"/>
              </a:defRPr>
            </a:pPr>
            <a:r>
              <a:t>Them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49840" y="2880360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6BB6A"/>
                </a:solidFill>
                <a:latin typeface="Segoe UI"/>
              </a:defRPr>
            </a:pPr>
            <a:r>
              <a:rPr dirty="0"/>
              <a:t>HiveShip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3154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Cost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961120" y="3355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$500/mo subscription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41280" y="33558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Self-hosted / free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368503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Arch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6112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Proprietary, single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3886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Open, multi-agent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421538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t>Self-host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No (SaaS only)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241280" y="44165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61120" y="4745736"/>
            <a:ext cx="842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Customize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6112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EC5"/>
                </a:solidFill>
                <a:latin typeface="Segoe UI"/>
              </a:defRPr>
            </a:pPr>
            <a:r>
              <a:t>Limited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4946903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Full (prompts, DAG)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532119"/>
            <a:ext cx="11430000" cy="836875"/>
          </a:xfrm>
          <a:prstGeom prst="rect">
            <a:avLst/>
          </a:prstGeom>
          <a:solidFill>
            <a:srgbClr val="1A233B"/>
          </a:solidFill>
          <a:ln w="12700">
            <a:solidFill>
              <a:srgbClr val="374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48640" y="5577840"/>
            <a:ext cx="11064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Positioning:   CLOSED/Interactive (Copilot, Cursor)   │   CLOSED/Autonomous (Devin, Jules)   │   OPEN/Interactive (Claude Code)   │   OPEN/Autonomous → HiveShip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0445" y="60449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No other tool occupies the  Autonomous + Open + Self-Hosted + LLM-Agnostic  quadrant.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1AB8F3E-889D-2EE9-23FD-A90FC64EA59F}"/>
              </a:ext>
            </a:extLst>
          </p:cNvPr>
          <p:cNvSpPr txBox="1"/>
          <p:nvPr/>
        </p:nvSpPr>
        <p:spPr>
          <a:xfrm>
            <a:off x="609600" y="65151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HiveShip  —  Autonomous  ·  Open  ·  Self-Hosted  ·  LLM-Agnostic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C3DB27-0AE6-F18A-4520-585A7601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B73B8D-2E41-5D3B-4DB2-4C8193E6E09D}"/>
              </a:ext>
            </a:extLst>
          </p:cNvPr>
          <p:cNvSpPr txBox="1"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C107"/>
                </a:solidFill>
                <a:latin typeface="Segoe UI"/>
              </a:defRPr>
            </a:pPr>
            <a:r>
              <a:rPr dirty="0"/>
              <a:t>Competitive Landscape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D68C0-1772-83A2-D81D-11CB2877E1BC}"/>
              </a:ext>
            </a:extLst>
          </p:cNvPr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EC5"/>
                </a:solidFill>
                <a:latin typeface="Segoe UI"/>
              </a:defRPr>
            </a:pPr>
            <a:r>
              <a:rPr dirty="0"/>
              <a:t>PASSIVE  ◄───────────────────────────────────────────────────────────────────────────►  AUTONOMOUS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89728-FDBA-65EA-5F14-9D49035825E5}"/>
              </a:ext>
            </a:extLst>
          </p:cNvPr>
          <p:cNvSpPr txBox="1"/>
          <p:nvPr/>
        </p:nvSpPr>
        <p:spPr>
          <a:xfrm>
            <a:off x="36576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Autocomplete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B0253-497A-3DF7-E4FE-EFCB56B13518}"/>
              </a:ext>
            </a:extLst>
          </p:cNvPr>
          <p:cNvSpPr txBox="1"/>
          <p:nvPr/>
        </p:nvSpPr>
        <p:spPr>
          <a:xfrm>
            <a:off x="36576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Copilot</a:t>
            </a:r>
            <a:br/>
            <a:r>
              <a:t>TabNine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DC3CC-4922-A45A-FF88-89FCFF38657A}"/>
              </a:ext>
            </a:extLst>
          </p:cNvPr>
          <p:cNvSpPr txBox="1"/>
          <p:nvPr/>
        </p:nvSpPr>
        <p:spPr>
          <a:xfrm>
            <a:off x="246888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134D7-DBE6-3711-F928-B7F15036A239}"/>
              </a:ext>
            </a:extLst>
          </p:cNvPr>
          <p:cNvSpPr txBox="1"/>
          <p:nvPr/>
        </p:nvSpPr>
        <p:spPr>
          <a:xfrm>
            <a:off x="246888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Copilot Chat</a:t>
            </a:r>
            <a:br/>
            <a:r>
              <a:t>ChatGPT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8B8E07-177B-FB6E-1D7A-68CFBDE41EC4}"/>
              </a:ext>
            </a:extLst>
          </p:cNvPr>
          <p:cNvSpPr txBox="1"/>
          <p:nvPr/>
        </p:nvSpPr>
        <p:spPr>
          <a:xfrm>
            <a:off x="457200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Agentic 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DA64F-E813-4315-7C61-DE7EB846095A}"/>
              </a:ext>
            </a:extLst>
          </p:cNvPr>
          <p:cNvSpPr txBox="1"/>
          <p:nvPr/>
        </p:nvSpPr>
        <p:spPr>
          <a:xfrm>
            <a:off x="457200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Cursor</a:t>
            </a:r>
            <a:br/>
            <a:r>
              <a:t>Windsurf</a:t>
            </a:r>
            <a:br/>
            <a:r>
              <a:t>Antigravity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7990D-B093-164D-EFE1-F0124ED3BCA7}"/>
              </a:ext>
            </a:extLst>
          </p:cNvPr>
          <p:cNvSpPr txBox="1"/>
          <p:nvPr/>
        </p:nvSpPr>
        <p:spPr>
          <a:xfrm>
            <a:off x="694944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Headless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EF8BAE-DCE9-6321-461A-A3DD58F777E7}"/>
              </a:ext>
            </a:extLst>
          </p:cNvPr>
          <p:cNvSpPr txBox="1"/>
          <p:nvPr/>
        </p:nvSpPr>
        <p:spPr>
          <a:xfrm>
            <a:off x="694944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EC5"/>
                </a:solidFill>
                <a:latin typeface="Segoe UI"/>
              </a:defRPr>
            </a:pPr>
            <a:r>
              <a:t>Claude Code</a:t>
            </a:r>
            <a:br/>
            <a:r>
              <a:t>Jules</a:t>
            </a:r>
            <a:br/>
            <a:r>
              <a:t>Devin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42DB2-E8F6-F309-636D-0DA8951BAA4F}"/>
              </a:ext>
            </a:extLst>
          </p:cNvPr>
          <p:cNvSpPr txBox="1"/>
          <p:nvPr/>
        </p:nvSpPr>
        <p:spPr>
          <a:xfrm>
            <a:off x="9509760" y="12801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B5F6"/>
                </a:solidFill>
                <a:latin typeface="Segoe UI"/>
              </a:defRPr>
            </a:pPr>
            <a:r>
              <a:t>Goal → 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21239E-7CB3-FA51-9B8E-1E03C9B8B1DC}"/>
              </a:ext>
            </a:extLst>
          </p:cNvPr>
          <p:cNvSpPr txBox="1"/>
          <p:nvPr/>
        </p:nvSpPr>
        <p:spPr>
          <a:xfrm>
            <a:off x="9509760" y="15544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C107"/>
                </a:solidFill>
                <a:latin typeface="Segoe UI"/>
              </a:defRPr>
            </a:pPr>
            <a:r>
              <a:rPr dirty="0"/>
              <a:t>HiveShip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B3BDC5-F5BA-D995-019D-0609E43A589F}"/>
              </a:ext>
            </a:extLst>
          </p:cNvPr>
          <p:cNvSpPr txBox="1"/>
          <p:nvPr/>
        </p:nvSpPr>
        <p:spPr>
          <a:xfrm>
            <a:off x="609600" y="65151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HiveShip  —  Autonomous  ·  Open  ·  Self-Hosted  ·  LLM-Agnostic</a:t>
            </a:r>
          </a:p>
        </p:txBody>
      </p:sp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6D8F39BD-88A4-165A-AE25-B7CC19681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233518"/>
              </p:ext>
            </p:extLst>
          </p:nvPr>
        </p:nvGraphicFramePr>
        <p:xfrm>
          <a:off x="5858933" y="2785578"/>
          <a:ext cx="4699000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0">
                  <a:extLst>
                    <a:ext uri="{9D8B030D-6E8A-4147-A177-3AD203B41FA5}">
                      <a16:colId xmlns:a16="http://schemas.microsoft.com/office/drawing/2014/main" val="974390396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3247622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sz="1300" dirty="0"/>
                    </a:p>
                    <a:p>
                      <a:endParaRPr lang="en-US" sz="13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               </a:t>
                      </a:r>
                      <a:r>
                        <a:rPr lang="en-US" sz="130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Devin</a:t>
                      </a:r>
                      <a:r>
                        <a:rPr lang="en-US" sz="1300" b="0" dirty="0"/>
                        <a:t> </a:t>
                      </a:r>
                      <a:r>
                        <a:rPr lang="en-US" sz="1300" b="0" dirty="0">
                          <a:solidFill>
                            <a:srgbClr val="FFC000"/>
                          </a:solidFill>
                        </a:rPr>
                        <a:t>●</a:t>
                      </a:r>
                    </a:p>
                    <a:p>
                      <a:endParaRPr lang="en-US" sz="1300" b="0" dirty="0"/>
                    </a:p>
                    <a:p>
                      <a:r>
                        <a:rPr lang="en-US" sz="1300" b="0" dirty="0"/>
                        <a:t>                           </a:t>
                      </a:r>
                      <a:r>
                        <a:rPr lang="en-US" sz="1300" b="0" dirty="0">
                          <a:solidFill>
                            <a:srgbClr val="FFC000"/>
                          </a:solidFill>
                        </a:rPr>
                        <a:t>●</a:t>
                      </a:r>
                      <a:r>
                        <a:rPr lang="en-US" sz="1300" b="0" dirty="0"/>
                        <a:t> </a:t>
                      </a:r>
                      <a:r>
                        <a:rPr lang="en-US" sz="1300" b="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Jules</a:t>
                      </a:r>
                    </a:p>
                    <a:p>
                      <a:endParaRPr lang="en-US" sz="1300" dirty="0"/>
                    </a:p>
                    <a:p>
                      <a:endParaRPr lang="en-US" sz="1300" dirty="0"/>
                    </a:p>
                  </a:txBody>
                  <a:tcPr>
                    <a:lnL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  <a:p>
                      <a:endParaRPr lang="en-US" sz="1300" dirty="0"/>
                    </a:p>
                    <a:p>
                      <a:r>
                        <a:rPr lang="en-US" sz="1300" dirty="0"/>
                        <a:t>                </a:t>
                      </a:r>
                      <a:r>
                        <a:rPr lang="en-US" sz="1300" dirty="0">
                          <a:solidFill>
                            <a:srgbClr val="FFC000"/>
                          </a:solidFill>
                        </a:rPr>
                        <a:t>●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 HiveShip</a:t>
                      </a:r>
                      <a:endParaRPr lang="en-US" sz="1300" dirty="0"/>
                    </a:p>
                  </a:txBody>
                  <a:tcPr>
                    <a:lnL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6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 dirty="0"/>
                    </a:p>
                    <a:p>
                      <a:r>
                        <a:rPr lang="en-US" sz="1300" dirty="0"/>
                        <a:t>                         </a:t>
                      </a:r>
                      <a:r>
                        <a:rPr lang="en-US" sz="1300" dirty="0">
                          <a:solidFill>
                            <a:srgbClr val="FFC000"/>
                          </a:solidFill>
                        </a:rPr>
                        <a:t>●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Cursor</a:t>
                      </a:r>
                    </a:p>
                    <a:p>
                      <a:r>
                        <a:rPr lang="en-US" sz="1300" dirty="0"/>
                        <a:t>                         </a:t>
                      </a:r>
                      <a:r>
                        <a:rPr lang="en-US" sz="1300" dirty="0">
                          <a:solidFill>
                            <a:srgbClr val="FFC000"/>
                          </a:solidFill>
                        </a:rPr>
                        <a:t>●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Antigravity</a:t>
                      </a:r>
                    </a:p>
                    <a:p>
                      <a:endParaRPr lang="en-US" sz="1300" dirty="0"/>
                    </a:p>
                    <a:p>
                      <a:r>
                        <a:rPr lang="en-US" sz="1300" dirty="0"/>
                        <a:t>                         </a:t>
                      </a:r>
                      <a:r>
                        <a:rPr lang="en-US" sz="1300" dirty="0">
                          <a:solidFill>
                            <a:srgbClr val="FFC000"/>
                          </a:solidFill>
                        </a:rPr>
                        <a:t>●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Copilot</a:t>
                      </a:r>
                    </a:p>
                    <a:p>
                      <a:endParaRPr lang="en-US" sz="1300" dirty="0"/>
                    </a:p>
                    <a:p>
                      <a:endParaRPr lang="en-US" sz="1300" dirty="0"/>
                    </a:p>
                  </a:txBody>
                  <a:tcPr>
                    <a:lnL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33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/>
                    </a:p>
                    <a:p>
                      <a:endParaRPr lang="en-US" sz="1300" dirty="0"/>
                    </a:p>
                    <a:p>
                      <a:endParaRPr lang="en-US" sz="1300" dirty="0"/>
                    </a:p>
                    <a:p>
                      <a:r>
                        <a:rPr lang="en-US" sz="1300" dirty="0"/>
                        <a:t> </a:t>
                      </a:r>
                      <a:r>
                        <a:rPr lang="en-US" sz="1300" dirty="0">
                          <a:solidFill>
                            <a:srgbClr val="FFC000"/>
                          </a:solidFill>
                        </a:rPr>
                        <a:t>●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3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Claude Code</a:t>
                      </a:r>
                    </a:p>
                  </a:txBody>
                  <a:tcPr>
                    <a:lnL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1A23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07631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DCEC8E5-8AA8-7167-582D-7818C2257931}"/>
              </a:ext>
            </a:extLst>
          </p:cNvPr>
          <p:cNvSpPr txBox="1"/>
          <p:nvPr/>
        </p:nvSpPr>
        <p:spPr>
          <a:xfrm>
            <a:off x="609600" y="2682701"/>
            <a:ext cx="449071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sz="2200" b="1" i="0" dirty="0">
                <a:solidFill>
                  <a:srgbClr val="FFC000"/>
                </a:solidFill>
                <a:effectLst/>
                <a:latin typeface="-apple-system"/>
              </a:rPr>
              <a:t>HiveShip's unique position: </a:t>
            </a:r>
          </a:p>
          <a:p>
            <a:pPr algn="l">
              <a:spcAft>
                <a:spcPts val="1200"/>
              </a:spcAft>
              <a:buNone/>
            </a:pPr>
            <a:r>
              <a:rPr lang="en-US" sz="1600" b="1" i="0" dirty="0">
                <a:solidFill>
                  <a:schemeClr val="bg1"/>
                </a:solidFill>
                <a:effectLst/>
                <a:latin typeface="-apple-system"/>
              </a:rPr>
              <a:t>Autonomous + Open + Self-hosted + LLM-agnostic</a:t>
            </a:r>
            <a:r>
              <a:rPr lang="en-US" sz="1600" b="0" i="0" dirty="0">
                <a:solidFill>
                  <a:schemeClr val="bg1"/>
                </a:solidFill>
                <a:effectLst/>
                <a:latin typeface="-apple-system"/>
              </a:rPr>
              <a:t>. No other tool in the market currently occupies this quadrant - fully autonomous, goal-to-PR, no IDE required.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BD184F-FB53-BF74-DDD5-6D6EFFB5666E}"/>
              </a:ext>
            </a:extLst>
          </p:cNvPr>
          <p:cNvSpPr txBox="1"/>
          <p:nvPr/>
        </p:nvSpPr>
        <p:spPr>
          <a:xfrm>
            <a:off x="7690273" y="2560320"/>
            <a:ext cx="1134533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3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AUTONOMOUS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B25B99-D1AA-71B1-2371-38D64814EFA6}"/>
              </a:ext>
            </a:extLst>
          </p:cNvPr>
          <p:cNvSpPr txBox="1"/>
          <p:nvPr/>
        </p:nvSpPr>
        <p:spPr>
          <a:xfrm>
            <a:off x="7597986" y="5701454"/>
            <a:ext cx="1220893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300" dirty="0">
                <a:solidFill>
                  <a:schemeClr val="bg1"/>
                </a:solidFill>
                <a:latin typeface="Consolas" panose="020B0609020204030204" pitchFamily="49" charset="0"/>
              </a:rPr>
              <a:t>I</a:t>
            </a:r>
            <a:r>
              <a:rPr lang="en-US" sz="1300" dirty="0">
                <a:solidFill>
                  <a:schemeClr val="bg1"/>
                </a:solidFill>
                <a:latin typeface="Consolas" panose="020B0609020204030204" pitchFamily="49" charset="0"/>
              </a:rPr>
              <a:t>NTERACTIVE</a:t>
            </a:r>
            <a:endParaRPr lang="en-US" sz="13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80E248-C21B-B94B-DA7D-C3F5017ED0B4}"/>
              </a:ext>
            </a:extLst>
          </p:cNvPr>
          <p:cNvSpPr txBox="1"/>
          <p:nvPr/>
        </p:nvSpPr>
        <p:spPr>
          <a:xfrm>
            <a:off x="5269652" y="4126186"/>
            <a:ext cx="788247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300" dirty="0">
                <a:solidFill>
                  <a:schemeClr val="bg1"/>
                </a:solidFill>
                <a:latin typeface="Consolas" panose="020B0609020204030204" pitchFamily="49" charset="0"/>
              </a:rPr>
              <a:t>CLOSED</a:t>
            </a:r>
            <a:endParaRPr lang="en-US" sz="13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755C44-0D07-F349-A785-FC787E08A8DE}"/>
              </a:ext>
            </a:extLst>
          </p:cNvPr>
          <p:cNvSpPr txBox="1"/>
          <p:nvPr/>
        </p:nvSpPr>
        <p:spPr>
          <a:xfrm>
            <a:off x="10380136" y="4126186"/>
            <a:ext cx="788247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1300" dirty="0">
                <a:solidFill>
                  <a:schemeClr val="bg1"/>
                </a:solidFill>
                <a:latin typeface="Consolas" panose="020B0609020204030204" pitchFamily="49" charset="0"/>
              </a:rPr>
              <a:t>OPEN</a:t>
            </a:r>
            <a:endParaRPr lang="en-US" sz="13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852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51B8E9-B0BC-1EE6-48EE-4BA418CE2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>
            <a:extLst>
              <a:ext uri="{FF2B5EF4-FFF2-40B4-BE49-F238E27FC236}">
                <a16:creationId xmlns:a16="http://schemas.microsoft.com/office/drawing/2014/main" id="{0416C272-40F6-FDE1-B77A-0D300F18F809}"/>
              </a:ext>
            </a:extLst>
          </p:cNvPr>
          <p:cNvSpPr txBox="1"/>
          <p:nvPr/>
        </p:nvSpPr>
        <p:spPr>
          <a:xfrm>
            <a:off x="609600" y="65151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B5F6"/>
                </a:solidFill>
                <a:latin typeface="Segoe UI"/>
              </a:defRPr>
            </a:pPr>
            <a:r>
              <a:rPr dirty="0"/>
              <a:t>HiveShip  —  Autonomous  ·  Open  ·  Self-Hosted  ·  LLM-Agnostic</a:t>
            </a:r>
          </a:p>
        </p:txBody>
      </p:sp>
    </p:spTree>
    <p:extLst>
      <p:ext uri="{BB962C8B-B14F-4D97-AF65-F5344CB8AC3E}">
        <p14:creationId xmlns:p14="http://schemas.microsoft.com/office/powerpoint/2010/main" val="4212026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1191</Words>
  <Application>Microsoft Office PowerPoint</Application>
  <PresentationFormat>Widescreen</PresentationFormat>
  <Paragraphs>275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-apple-system</vt:lpstr>
      <vt:lpstr>Aptos</vt:lpstr>
      <vt:lpstr>Arial</vt:lpstr>
      <vt:lpstr>Calibri</vt:lpstr>
      <vt:lpstr>Consolas</vt:lpstr>
      <vt:lpstr>Segoe UI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Sharma, Kushal (external - Service)</cp:lastModifiedBy>
  <cp:revision>4</cp:revision>
  <dcterms:created xsi:type="dcterms:W3CDTF">2013-01-27T09:14:16Z</dcterms:created>
  <dcterms:modified xsi:type="dcterms:W3CDTF">2026-04-14T19:13:06Z</dcterms:modified>
  <cp:category/>
</cp:coreProperties>
</file>